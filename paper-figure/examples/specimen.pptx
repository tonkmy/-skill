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68000" cy="40690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ME full 11.67x4.30in - tokens (reference sheet, not a figure)"/>
          <p:cNvSpPr/>
          <p:nvPr/>
        </p:nvSpPr>
        <p:spPr>
          <a:xfrm>
            <a:off x="0" y="0"/>
            <a:ext cx="10668000" cy="39319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: (a)  Type and colour"/>
          <p:cNvSpPr txBox="1"/>
          <p:nvPr/>
        </p:nvSpPr>
        <p:spPr>
          <a:xfrm>
            <a:off x="182880" y="137160"/>
            <a:ext cx="2788920" cy="411480"/>
          </a:xfrm>
          <a:prstGeom prst="rect">
            <a:avLst/>
          </a:prstGeom>
          <a:noFill/>
        </p:spPr>
        <p:txBody>
          <a:bodyPr wrap="none" anchor="t" lIns="109728" rIns="109728" tIns="36576" bIns="36576">
            <a:noAutofit/>
          </a:bodyPr>
          <a:lstStyle/>
          <a:p>
            <a:pPr algn="l"/>
            <a:r>
              <a:rPr b="0" i="0" sz="2000">
                <a:solidFill>
                  <a:srgbClr val="212529"/>
                </a:solidFill>
                <a:latin typeface="Inter SemiBold"/>
                <a:ea typeface="Inter SemiBold"/>
                <a:cs typeface="Inter SemiBold"/>
              </a:rPr>
              <a:t>(a)  Type and colour</a:t>
            </a:r>
          </a:p>
        </p:txBody>
      </p:sp>
      <p:sp>
        <p:nvSpPr>
          <p:cNvPr id="4" name="text: Title 20 · SemiBold"/>
          <p:cNvSpPr txBox="1"/>
          <p:nvPr/>
        </p:nvSpPr>
        <p:spPr>
          <a:xfrm>
            <a:off x="320040" y="777240"/>
            <a:ext cx="2651760" cy="45720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2000">
                <a:solidFill>
                  <a:srgbClr val="212529"/>
                </a:solidFill>
                <a:latin typeface="Inter SemiBold"/>
                <a:ea typeface="Inter SemiBold"/>
                <a:cs typeface="Inter SemiBold"/>
              </a:rPr>
              <a:t>Title 20 · SemiBold</a:t>
            </a:r>
          </a:p>
        </p:txBody>
      </p:sp>
      <p:sp>
        <p:nvSpPr>
          <p:cNvPr id="5" name="text: Module 16 · Medium"/>
          <p:cNvSpPr txBox="1"/>
          <p:nvPr/>
        </p:nvSpPr>
        <p:spPr>
          <a:xfrm>
            <a:off x="3291840" y="777240"/>
            <a:ext cx="2331720" cy="45720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600">
                <a:solidFill>
                  <a:srgbClr val="212529"/>
                </a:solidFill>
                <a:latin typeface="Inter Medium"/>
                <a:ea typeface="Inter Medium"/>
                <a:cs typeface="Inter Medium"/>
              </a:rPr>
              <a:t>Module 16 · Medium</a:t>
            </a:r>
          </a:p>
        </p:txBody>
      </p:sp>
      <p:sp>
        <p:nvSpPr>
          <p:cNvPr id="6" name="text: Note 12 · Regular"/>
          <p:cNvSpPr txBox="1"/>
          <p:nvPr/>
        </p:nvSpPr>
        <p:spPr>
          <a:xfrm>
            <a:off x="5943600" y="777240"/>
            <a:ext cx="1600200" cy="45720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212529"/>
                </a:solidFill>
                <a:latin typeface="Inter"/>
                <a:ea typeface="Inter"/>
                <a:cs typeface="Inter"/>
              </a:rPr>
              <a:t>Note 12 · Regular</a:t>
            </a:r>
          </a:p>
        </p:txBody>
      </p:sp>
      <p:sp>
        <p:nvSpPr>
          <p:cNvPr id="7" name="text: Math  $e_0$, $z_p$, $r^{p−1}$, $α$"/>
          <p:cNvSpPr txBox="1"/>
          <p:nvPr/>
        </p:nvSpPr>
        <p:spPr>
          <a:xfrm>
            <a:off x="7863840" y="777240"/>
            <a:ext cx="2148840" cy="45720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Math  </a:t>
            </a:r>
            <a:r>
              <a:rPr b="0" i="1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e</a:t>
            </a:r>
            <a:r>
              <a:rPr b="0" i="0" sz="1600" baseline="-25000">
                <a:solidFill>
                  <a:srgbClr val="212529"/>
                </a:solidFill>
                <a:latin typeface="Inter"/>
                <a:ea typeface="Inter"/>
                <a:cs typeface="Inter"/>
              </a:rPr>
              <a:t>0</a:t>
            </a:r>
            <a:r>
              <a:rPr b="0" i="0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, </a:t>
            </a:r>
            <a:r>
              <a:rPr b="0" i="1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z</a:t>
            </a:r>
            <a:r>
              <a:rPr b="0" i="1" sz="1600" baseline="-25000">
                <a:solidFill>
                  <a:srgbClr val="212529"/>
                </a:solidFill>
                <a:latin typeface="Inter"/>
                <a:ea typeface="Inter"/>
                <a:cs typeface="Inter"/>
              </a:rPr>
              <a:t>p</a:t>
            </a:r>
            <a:r>
              <a:rPr b="0" i="0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, </a:t>
            </a:r>
            <a:r>
              <a:rPr b="0" i="1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r</a:t>
            </a:r>
            <a:r>
              <a:rPr b="0" i="1" sz="1600" baseline="30000">
                <a:solidFill>
                  <a:srgbClr val="212529"/>
                </a:solidFill>
                <a:latin typeface="Inter"/>
                <a:ea typeface="Inter"/>
                <a:cs typeface="Inter"/>
              </a:rPr>
              <a:t>p</a:t>
            </a:r>
            <a:r>
              <a:rPr b="0" i="0" sz="1600" baseline="30000">
                <a:solidFill>
                  <a:srgbClr val="212529"/>
                </a:solidFill>
                <a:latin typeface="Inter"/>
                <a:ea typeface="Inter"/>
                <a:cs typeface="Inter"/>
              </a:rPr>
              <a:t>−1</a:t>
            </a:r>
            <a:r>
              <a:rPr b="0" i="0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, </a:t>
            </a:r>
            <a:r>
              <a:rPr b="0" i="1" sz="1600">
                <a:solidFill>
                  <a:srgbClr val="212529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8" name="box: Base"/>
          <p:cNvSpPr/>
          <p:nvPr/>
        </p:nvSpPr>
        <p:spPr>
          <a:xfrm>
            <a:off x="32004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Base</a:t>
            </a:r>
          </a:p>
        </p:txBody>
      </p:sp>
      <p:sp>
        <p:nvSpPr>
          <p:cNvPr id="9" name="box: Orange"/>
          <p:cNvSpPr/>
          <p:nvPr/>
        </p:nvSpPr>
        <p:spPr>
          <a:xfrm>
            <a:off x="201168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FFE8CC"/>
          </a:solidFill>
          <a:ln w="15875">
            <a:solidFill>
              <a:srgbClr val="FD7E14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D9480F"/>
                </a:solidFill>
                <a:latin typeface="Inter Medium"/>
                <a:ea typeface="Inter Medium"/>
                <a:cs typeface="Inter Medium"/>
              </a:rPr>
              <a:t>Orange</a:t>
            </a:r>
          </a:p>
        </p:txBody>
      </p:sp>
      <p:sp>
        <p:nvSpPr>
          <p:cNvPr id="10" name="box: Blue"/>
          <p:cNvSpPr/>
          <p:nvPr/>
        </p:nvSpPr>
        <p:spPr>
          <a:xfrm>
            <a:off x="370332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D0EBFF"/>
          </a:solidFill>
          <a:ln w="15875">
            <a:solidFill>
              <a:srgbClr val="228BE6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1864AB"/>
                </a:solidFill>
                <a:latin typeface="Inter Medium"/>
                <a:ea typeface="Inter Medium"/>
                <a:cs typeface="Inter Medium"/>
              </a:rPr>
              <a:t>Blue</a:t>
            </a:r>
          </a:p>
        </p:txBody>
      </p:sp>
      <p:sp>
        <p:nvSpPr>
          <p:cNvPr id="11" name="box: Violet"/>
          <p:cNvSpPr/>
          <p:nvPr/>
        </p:nvSpPr>
        <p:spPr>
          <a:xfrm>
            <a:off x="539496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E5DBFF"/>
          </a:solidFill>
          <a:ln w="15875">
            <a:solidFill>
              <a:srgbClr val="7950F2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5F3DC4"/>
                </a:solidFill>
                <a:latin typeface="Inter Medium"/>
                <a:ea typeface="Inter Medium"/>
                <a:cs typeface="Inter Medium"/>
              </a:rPr>
              <a:t>Violet</a:t>
            </a:r>
          </a:p>
        </p:txBody>
      </p:sp>
      <p:sp>
        <p:nvSpPr>
          <p:cNvPr id="12" name="box: Green"/>
          <p:cNvSpPr/>
          <p:nvPr/>
        </p:nvSpPr>
        <p:spPr>
          <a:xfrm>
            <a:off x="708660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D3F9D8"/>
          </a:solidFill>
          <a:ln w="15875">
            <a:solidFill>
              <a:srgbClr val="40C057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2B8A3E"/>
                </a:solidFill>
                <a:latin typeface="Inter Medium"/>
                <a:ea typeface="Inter Medium"/>
                <a:cs typeface="Inter Medium"/>
              </a:rPr>
              <a:t>Green</a:t>
            </a:r>
          </a:p>
        </p:txBody>
      </p:sp>
      <p:sp>
        <p:nvSpPr>
          <p:cNvPr id="13" name="box: Red"/>
          <p:cNvSpPr/>
          <p:nvPr/>
        </p:nvSpPr>
        <p:spPr>
          <a:xfrm>
            <a:off x="8778240" y="15087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FFE3E3"/>
          </a:solidFill>
          <a:ln w="15875">
            <a:solidFill>
              <a:srgbClr val="FA5252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C92A2A"/>
                </a:solidFill>
                <a:latin typeface="Inter Medium"/>
                <a:ea typeface="Inter Medium"/>
                <a:cs typeface="Inter Medium"/>
              </a:rPr>
              <a:t>Red</a:t>
            </a:r>
          </a:p>
        </p:txBody>
      </p:sp>
      <p:sp>
        <p:nvSpPr>
          <p:cNvPr id="14" name="box: Novel"/>
          <p:cNvSpPr/>
          <p:nvPr/>
        </p:nvSpPr>
        <p:spPr>
          <a:xfrm>
            <a:off x="320040" y="2423160"/>
            <a:ext cx="1417320" cy="548640"/>
          </a:xfrm>
          <a:prstGeom prst="roundRect">
            <a:avLst>
              <a:gd name="adj" fmla="val 16666"/>
            </a:avLst>
          </a:prstGeom>
          <a:solidFill>
            <a:srgbClr val="FFE8CC"/>
          </a:solidFill>
          <a:ln w="25400">
            <a:solidFill>
              <a:srgbClr val="FD7E14"/>
            </a:solidFill>
          </a:ln>
          <a:effectLst>
            <a:glow rad="76200">
              <a:srgbClr val="FFC078">
                <a:alpha val="55000"/>
              </a:srgbClr>
            </a:glo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D9480F"/>
                </a:solidFill>
                <a:latin typeface="Inter Medium"/>
                <a:ea typeface="Inter Medium"/>
                <a:cs typeface="Inter Medium"/>
              </a:rPr>
              <a:t>Novel</a:t>
            </a:r>
          </a:p>
        </p:txBody>
      </p:sp>
      <p:sp>
        <p:nvSpPr>
          <p:cNvPr id="15" name="op +"/>
          <p:cNvSpPr/>
          <p:nvPr/>
        </p:nvSpPr>
        <p:spPr>
          <a:xfrm>
            <a:off x="2167128" y="2532888"/>
            <a:ext cx="329184" cy="329184"/>
          </a:xfrm>
          <a:prstGeom prst="ellipse">
            <a:avLst/>
          </a:prstGeom>
          <a:solidFill>
            <a:srgbClr val="E5DBFF"/>
          </a:solidFill>
          <a:ln w="25400">
            <a:solidFill>
              <a:srgbClr val="7950F2"/>
            </a:solidFill>
          </a:ln>
          <a:effectLst>
            <a:glow rad="76200">
              <a:srgbClr val="B197FC">
                <a:alpha val="55000"/>
              </a:srgbClr>
            </a:glow>
          </a:effectLst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b="0" i="0" sz="2000">
                <a:solidFill>
                  <a:srgbClr val="5F3DC4"/>
                </a:solidFill>
                <a:latin typeface="Inter Medium"/>
                <a:ea typeface="Inter Medium"/>
                <a:cs typeface="Inter Medium"/>
              </a:rPr>
              <a:t>+</a:t>
            </a:r>
          </a:p>
        </p:txBody>
      </p:sp>
      <p:grpSp>
        <p:nvGrpSpPr>
          <p:cNvPr id="16" name="vector"/>
          <p:cNvGrpSpPr/>
          <p:nvPr/>
        </p:nvGrpSpPr>
        <p:grpSpPr>
          <a:xfrm>
            <a:off x="2926080" y="2404872"/>
            <a:ext cx="146304" cy="694944"/>
            <a:chOff x="2926080" y="2404872"/>
            <a:chExt cx="146304" cy="694944"/>
          </a:xfrm>
        </p:grpSpPr>
        <p:sp>
          <p:nvSpPr>
            <p:cNvPr id="17" name="Rounded Rectangle 16"/>
            <p:cNvSpPr/>
            <p:nvPr/>
          </p:nvSpPr>
          <p:spPr>
            <a:xfrm>
              <a:off x="2926080" y="240487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926080" y="258775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26080" y="277063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926080" y="295351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vector"/>
          <p:cNvGrpSpPr/>
          <p:nvPr/>
        </p:nvGrpSpPr>
        <p:grpSpPr>
          <a:xfrm>
            <a:off x="3246120" y="2404872"/>
            <a:ext cx="146304" cy="694944"/>
            <a:chOff x="3246120" y="2404872"/>
            <a:chExt cx="146304" cy="694944"/>
          </a:xfrm>
        </p:grpSpPr>
        <p:sp>
          <p:nvSpPr>
            <p:cNvPr id="22" name="Rounded Rectangle 21"/>
            <p:cNvSpPr/>
            <p:nvPr/>
          </p:nvSpPr>
          <p:spPr>
            <a:xfrm>
              <a:off x="3246120" y="240487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3246120" y="258775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246120" y="277063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246120" y="295351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vector"/>
          <p:cNvGrpSpPr/>
          <p:nvPr/>
        </p:nvGrpSpPr>
        <p:grpSpPr>
          <a:xfrm>
            <a:off x="3566160" y="2404872"/>
            <a:ext cx="146304" cy="694944"/>
            <a:chOff x="3566160" y="2404872"/>
            <a:chExt cx="146304" cy="694944"/>
          </a:xfrm>
        </p:grpSpPr>
        <p:sp>
          <p:nvSpPr>
            <p:cNvPr id="27" name="Rounded Rectangle 26"/>
            <p:cNvSpPr/>
            <p:nvPr/>
          </p:nvSpPr>
          <p:spPr>
            <a:xfrm>
              <a:off x="3566160" y="240487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566160" y="258775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566160" y="277063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566160" y="2953512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icon: snowflake (frozen)"/>
          <p:cNvGrpSpPr/>
          <p:nvPr/>
        </p:nvGrpSpPr>
        <p:grpSpPr>
          <a:xfrm>
            <a:off x="4069080" y="2578696"/>
            <a:ext cx="274320" cy="237568"/>
            <a:chOff x="4069080" y="2578696"/>
            <a:chExt cx="274320" cy="237568"/>
          </a:xfrm>
        </p:grpSpPr>
        <p:cxnSp>
          <p:nvCxnSpPr>
            <p:cNvPr id="32" name="Connector 31"/>
            <p:cNvCxnSpPr/>
            <p:nvPr/>
          </p:nvCxnSpPr>
          <p:spPr>
            <a:xfrm>
              <a:off x="4069080" y="2697480"/>
              <a:ext cx="274320" cy="0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4137660" y="2578696"/>
              <a:ext cx="137160" cy="237568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 flipH="1">
              <a:off x="4137660" y="2578696"/>
              <a:ext cx="137160" cy="237568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 flipV="1">
              <a:off x="4291279" y="2666444"/>
              <a:ext cx="31036" cy="3103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4291279" y="2697480"/>
              <a:ext cx="31036" cy="3103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4248760" y="2771126"/>
              <a:ext cx="42395" cy="11360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8" name="Connector 37"/>
            <p:cNvCxnSpPr/>
            <p:nvPr/>
          </p:nvCxnSpPr>
          <p:spPr>
            <a:xfrm flipH="1">
              <a:off x="4237400" y="2771126"/>
              <a:ext cx="11360" cy="4239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4163720" y="2771126"/>
              <a:ext cx="11360" cy="4239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0" name="Connector 39"/>
            <p:cNvCxnSpPr/>
            <p:nvPr/>
          </p:nvCxnSpPr>
          <p:spPr>
            <a:xfrm flipH="1">
              <a:off x="4121325" y="2771126"/>
              <a:ext cx="42395" cy="11360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1" name="Connector 40"/>
            <p:cNvCxnSpPr/>
            <p:nvPr/>
          </p:nvCxnSpPr>
          <p:spPr>
            <a:xfrm flipH="1">
              <a:off x="4090165" y="2697480"/>
              <a:ext cx="31036" cy="3103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2" name="Connector 41"/>
            <p:cNvCxnSpPr/>
            <p:nvPr/>
          </p:nvCxnSpPr>
          <p:spPr>
            <a:xfrm flipH="1" flipV="1">
              <a:off x="4090165" y="2666444"/>
              <a:ext cx="31036" cy="3103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3" name="Connector 42"/>
            <p:cNvCxnSpPr/>
            <p:nvPr/>
          </p:nvCxnSpPr>
          <p:spPr>
            <a:xfrm flipH="1" flipV="1">
              <a:off x="4121325" y="2612474"/>
              <a:ext cx="42395" cy="11360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4" name="Connector 43"/>
            <p:cNvCxnSpPr/>
            <p:nvPr/>
          </p:nvCxnSpPr>
          <p:spPr>
            <a:xfrm flipV="1">
              <a:off x="4163720" y="2581438"/>
              <a:ext cx="11360" cy="4239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5" name="Connector 44"/>
            <p:cNvCxnSpPr/>
            <p:nvPr/>
          </p:nvCxnSpPr>
          <p:spPr>
            <a:xfrm flipH="1" flipV="1">
              <a:off x="4237400" y="2581438"/>
              <a:ext cx="11360" cy="42396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  <p:cxnSp>
          <p:nvCxnSpPr>
            <p:cNvPr id="46" name="Connector 45"/>
            <p:cNvCxnSpPr/>
            <p:nvPr/>
          </p:nvCxnSpPr>
          <p:spPr>
            <a:xfrm flipV="1">
              <a:off x="4248760" y="2612474"/>
              <a:ext cx="42395" cy="11360"/>
            </a:xfrm>
            <a:prstGeom prst="line">
              <a:avLst/>
            </a:prstGeom>
            <a:ln w="20955" cap="rnd">
              <a:solidFill>
                <a:srgbClr val="868E96"/>
              </a:solidFill>
            </a:ln>
          </p:spPr>
        </p:cxnSp>
      </p:grpSp>
      <p:grpSp>
        <p:nvGrpSpPr>
          <p:cNvPr id="47" name="icon: flame (trainable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8" name="Freeform 47"/>
            <p:cNvSpPr/>
            <p:nvPr/>
          </p:nvSpPr>
          <p:spPr>
            <a:xfrm>
              <a:off x="4579149" y="2560320"/>
              <a:ext cx="168582" cy="274320"/>
            </a:xfrm>
            <a:custGeom>
              <a:avLst/>
              <a:gdLst/>
              <a:ahLst/>
              <a:cxnLst/>
              <a:rect l="l" t="t" r="r" b="b"/>
              <a:pathLst>
                <a:path w="168582" h="274320">
                  <a:moveTo>
                    <a:pt x="84291" y="0"/>
                  </a:moveTo>
                  <a:lnTo>
                    <a:pt x="85228" y="1173"/>
                  </a:lnTo>
                  <a:lnTo>
                    <a:pt x="87998" y="4674"/>
                  </a:lnTo>
                  <a:lnTo>
                    <a:pt x="92483" y="10441"/>
                  </a:lnTo>
                  <a:lnTo>
                    <a:pt x="98491" y="18376"/>
                  </a:lnTo>
                  <a:lnTo>
                    <a:pt x="105763" y="28344"/>
                  </a:lnTo>
                  <a:lnTo>
                    <a:pt x="113983" y="40173"/>
                  </a:lnTo>
                  <a:lnTo>
                    <a:pt x="122794" y="53662"/>
                  </a:lnTo>
                  <a:lnTo>
                    <a:pt x="131805" y="68580"/>
                  </a:lnTo>
                  <a:lnTo>
                    <a:pt x="140612" y="84671"/>
                  </a:lnTo>
                  <a:lnTo>
                    <a:pt x="148813" y="101660"/>
                  </a:lnTo>
                  <a:lnTo>
                    <a:pt x="156021" y="119257"/>
                  </a:lnTo>
                  <a:lnTo>
                    <a:pt x="161880" y="137160"/>
                  </a:lnTo>
                  <a:lnTo>
                    <a:pt x="166083" y="155063"/>
                  </a:lnTo>
                  <a:lnTo>
                    <a:pt x="168378" y="172660"/>
                  </a:lnTo>
                  <a:lnTo>
                    <a:pt x="168582" y="189649"/>
                  </a:lnTo>
                  <a:lnTo>
                    <a:pt x="166587" y="205740"/>
                  </a:lnTo>
                  <a:lnTo>
                    <a:pt x="162367" y="220658"/>
                  </a:lnTo>
                  <a:lnTo>
                    <a:pt x="155974" y="234147"/>
                  </a:lnTo>
                  <a:lnTo>
                    <a:pt x="147544" y="245976"/>
                  </a:lnTo>
                  <a:lnTo>
                    <a:pt x="137286" y="255944"/>
                  </a:lnTo>
                  <a:lnTo>
                    <a:pt x="125475" y="263879"/>
                  </a:lnTo>
                  <a:lnTo>
                    <a:pt x="112448" y="269646"/>
                  </a:lnTo>
                  <a:lnTo>
                    <a:pt x="98583" y="273147"/>
                  </a:lnTo>
                  <a:lnTo>
                    <a:pt x="84291" y="274320"/>
                  </a:lnTo>
                  <a:lnTo>
                    <a:pt x="69999" y="273147"/>
                  </a:lnTo>
                  <a:lnTo>
                    <a:pt x="56134" y="269646"/>
                  </a:lnTo>
                  <a:lnTo>
                    <a:pt x="43107" y="263879"/>
                  </a:lnTo>
                  <a:lnTo>
                    <a:pt x="31296" y="255944"/>
                  </a:lnTo>
                  <a:lnTo>
                    <a:pt x="21038" y="245976"/>
                  </a:lnTo>
                  <a:lnTo>
                    <a:pt x="12608" y="234147"/>
                  </a:lnTo>
                  <a:lnTo>
                    <a:pt x="6215" y="220658"/>
                  </a:lnTo>
                  <a:lnTo>
                    <a:pt x="1995" y="205740"/>
                  </a:lnTo>
                  <a:lnTo>
                    <a:pt x="0" y="189649"/>
                  </a:lnTo>
                  <a:lnTo>
                    <a:pt x="204" y="172660"/>
                  </a:lnTo>
                  <a:lnTo>
                    <a:pt x="2499" y="155063"/>
                  </a:lnTo>
                  <a:lnTo>
                    <a:pt x="6702" y="137160"/>
                  </a:lnTo>
                  <a:lnTo>
                    <a:pt x="12561" y="119257"/>
                  </a:lnTo>
                  <a:lnTo>
                    <a:pt x="19769" y="101660"/>
                  </a:lnTo>
                  <a:lnTo>
                    <a:pt x="27970" y="84671"/>
                  </a:lnTo>
                  <a:lnTo>
                    <a:pt x="36777" y="68580"/>
                  </a:lnTo>
                  <a:lnTo>
                    <a:pt x="45788" y="53662"/>
                  </a:lnTo>
                  <a:lnTo>
                    <a:pt x="54599" y="40173"/>
                  </a:lnTo>
                  <a:lnTo>
                    <a:pt x="62819" y="28344"/>
                  </a:lnTo>
                  <a:lnTo>
                    <a:pt x="70091" y="18376"/>
                  </a:lnTo>
                  <a:lnTo>
                    <a:pt x="76099" y="10441"/>
                  </a:lnTo>
                  <a:lnTo>
                    <a:pt x="80584" y="4674"/>
                  </a:lnTo>
                  <a:lnTo>
                    <a:pt x="83354" y="1173"/>
                  </a:lnTo>
                  <a:lnTo>
                    <a:pt x="84291" y="0"/>
                  </a:lnTo>
                  <a:close/>
                </a:path>
              </a:pathLst>
            </a:custGeom>
            <a:solidFill>
              <a:srgbClr val="FD7E1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4621295" y="2686507"/>
              <a:ext cx="84290" cy="137160"/>
            </a:xfrm>
            <a:custGeom>
              <a:avLst/>
              <a:gdLst/>
              <a:ahLst/>
              <a:cxnLst/>
              <a:rect l="l" t="t" r="r" b="b"/>
              <a:pathLst>
                <a:path w="84290" h="137160">
                  <a:moveTo>
                    <a:pt x="42145" y="0"/>
                  </a:moveTo>
                  <a:lnTo>
                    <a:pt x="42613" y="587"/>
                  </a:lnTo>
                  <a:lnTo>
                    <a:pt x="43998" y="2337"/>
                  </a:lnTo>
                  <a:lnTo>
                    <a:pt x="46241" y="5221"/>
                  </a:lnTo>
                  <a:lnTo>
                    <a:pt x="49245" y="9188"/>
                  </a:lnTo>
                  <a:lnTo>
                    <a:pt x="52881" y="14172"/>
                  </a:lnTo>
                  <a:lnTo>
                    <a:pt x="56991" y="20087"/>
                  </a:lnTo>
                  <a:lnTo>
                    <a:pt x="61396" y="26831"/>
                  </a:lnTo>
                  <a:lnTo>
                    <a:pt x="65902" y="34290"/>
                  </a:lnTo>
                  <a:lnTo>
                    <a:pt x="70306" y="42336"/>
                  </a:lnTo>
                  <a:lnTo>
                    <a:pt x="74406" y="50830"/>
                  </a:lnTo>
                  <a:lnTo>
                    <a:pt x="78010" y="59629"/>
                  </a:lnTo>
                  <a:lnTo>
                    <a:pt x="80940" y="68580"/>
                  </a:lnTo>
                  <a:lnTo>
                    <a:pt x="83041" y="77532"/>
                  </a:lnTo>
                  <a:lnTo>
                    <a:pt x="84188" y="86330"/>
                  </a:lnTo>
                  <a:lnTo>
                    <a:pt x="84290" y="94825"/>
                  </a:lnTo>
                  <a:lnTo>
                    <a:pt x="83293" y="102870"/>
                  </a:lnTo>
                  <a:lnTo>
                    <a:pt x="81183" y="110329"/>
                  </a:lnTo>
                  <a:lnTo>
                    <a:pt x="77987" y="117074"/>
                  </a:lnTo>
                  <a:lnTo>
                    <a:pt x="73772" y="122988"/>
                  </a:lnTo>
                  <a:lnTo>
                    <a:pt x="68642" y="127972"/>
                  </a:lnTo>
                  <a:lnTo>
                    <a:pt x="62737" y="131940"/>
                  </a:lnTo>
                  <a:lnTo>
                    <a:pt x="56223" y="134823"/>
                  </a:lnTo>
                  <a:lnTo>
                    <a:pt x="49291" y="136573"/>
                  </a:lnTo>
                  <a:lnTo>
                    <a:pt x="42145" y="137160"/>
                  </a:lnTo>
                  <a:lnTo>
                    <a:pt x="34999" y="136573"/>
                  </a:lnTo>
                  <a:lnTo>
                    <a:pt x="28067" y="134823"/>
                  </a:lnTo>
                  <a:lnTo>
                    <a:pt x="21553" y="131940"/>
                  </a:lnTo>
                  <a:lnTo>
                    <a:pt x="15648" y="127972"/>
                  </a:lnTo>
                  <a:lnTo>
                    <a:pt x="10518" y="122988"/>
                  </a:lnTo>
                  <a:lnTo>
                    <a:pt x="6303" y="117074"/>
                  </a:lnTo>
                  <a:lnTo>
                    <a:pt x="3107" y="110329"/>
                  </a:lnTo>
                  <a:lnTo>
                    <a:pt x="997" y="102870"/>
                  </a:lnTo>
                  <a:lnTo>
                    <a:pt x="0" y="94825"/>
                  </a:lnTo>
                  <a:lnTo>
                    <a:pt x="102" y="86330"/>
                  </a:lnTo>
                  <a:lnTo>
                    <a:pt x="1249" y="77532"/>
                  </a:lnTo>
                  <a:lnTo>
                    <a:pt x="3350" y="68580"/>
                  </a:lnTo>
                  <a:lnTo>
                    <a:pt x="6280" y="59629"/>
                  </a:lnTo>
                  <a:lnTo>
                    <a:pt x="9884" y="50830"/>
                  </a:lnTo>
                  <a:lnTo>
                    <a:pt x="13984" y="42336"/>
                  </a:lnTo>
                  <a:lnTo>
                    <a:pt x="18388" y="34290"/>
                  </a:lnTo>
                  <a:lnTo>
                    <a:pt x="22894" y="26831"/>
                  </a:lnTo>
                  <a:lnTo>
                    <a:pt x="27299" y="20087"/>
                  </a:lnTo>
                  <a:lnTo>
                    <a:pt x="31409" y="14172"/>
                  </a:lnTo>
                  <a:lnTo>
                    <a:pt x="35045" y="9188"/>
                  </a:lnTo>
                  <a:lnTo>
                    <a:pt x="38049" y="5221"/>
                  </a:lnTo>
                  <a:lnTo>
                    <a:pt x="40292" y="2337"/>
                  </a:lnTo>
                  <a:lnTo>
                    <a:pt x="41677" y="587"/>
                  </a:lnTo>
                  <a:lnTo>
                    <a:pt x="42145" y="0"/>
                  </a:lnTo>
                  <a:close/>
                </a:path>
              </a:pathLst>
            </a:custGeom>
            <a:solidFill>
              <a:srgbClr val="FFC07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" name="box: A"/>
          <p:cNvSpPr/>
          <p:nvPr/>
        </p:nvSpPr>
        <p:spPr>
          <a:xfrm>
            <a:off x="5257800" y="2423160"/>
            <a:ext cx="1097280" cy="548640"/>
          </a:xfrm>
          <a:prstGeom prst="roundRect">
            <a:avLst>
              <a:gd name="adj" fmla="val 16666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A</a:t>
            </a:r>
          </a:p>
        </p:txBody>
      </p:sp>
      <p:sp>
        <p:nvSpPr>
          <p:cNvPr id="51" name="box: B"/>
          <p:cNvSpPr/>
          <p:nvPr/>
        </p:nvSpPr>
        <p:spPr>
          <a:xfrm>
            <a:off x="6995160" y="2423160"/>
            <a:ext cx="1097280" cy="548640"/>
          </a:xfrm>
          <a:prstGeom prst="roundRect">
            <a:avLst>
              <a:gd name="adj" fmla="val 16666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B</a:t>
            </a:r>
          </a:p>
        </p:txBody>
      </p:sp>
      <p:cxnSp>
        <p:nvCxnSpPr>
          <p:cNvPr id="52" name="arrow"/>
          <p:cNvCxnSpPr>
            <a:stCxn id="50" idx="3"/>
            <a:endCxn id="51" idx="1"/>
          </p:cNvCxnSpPr>
          <p:nvPr/>
        </p:nvCxnSpPr>
        <p:spPr>
          <a:xfrm>
            <a:off x="6355080" y="2697480"/>
            <a:ext cx="64008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sp>
        <p:nvSpPr>
          <p:cNvPr id="53" name="box: C"/>
          <p:cNvSpPr/>
          <p:nvPr/>
        </p:nvSpPr>
        <p:spPr>
          <a:xfrm>
            <a:off x="8732520" y="2423160"/>
            <a:ext cx="1097280" cy="548640"/>
          </a:xfrm>
          <a:prstGeom prst="roundRect">
            <a:avLst>
              <a:gd name="adj" fmla="val 16666"/>
            </a:avLst>
          </a:prstGeom>
          <a:solidFill>
            <a:srgbClr val="E5DBFF"/>
          </a:solidFill>
          <a:ln w="15875">
            <a:solidFill>
              <a:srgbClr val="7950F2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5F3DC4"/>
                </a:solidFill>
                <a:latin typeface="Inter Medium"/>
                <a:ea typeface="Inter Medium"/>
                <a:cs typeface="Inter Medium"/>
              </a:rPr>
              <a:t>C</a:t>
            </a:r>
          </a:p>
        </p:txBody>
      </p:sp>
      <p:cxnSp>
        <p:nvCxnSpPr>
          <p:cNvPr id="54" name="arrow"/>
          <p:cNvCxnSpPr>
            <a:stCxn id="51" idx="3"/>
            <a:endCxn id="53" idx="1"/>
          </p:cNvCxnSpPr>
          <p:nvPr/>
        </p:nvCxnSpPr>
        <p:spPr>
          <a:xfrm>
            <a:off x="8092440" y="2697480"/>
            <a:ext cx="640080" cy="0"/>
          </a:xfrm>
          <a:prstGeom prst="line">
            <a:avLst/>
          </a:prstGeom>
          <a:ln w="19050">
            <a:solidFill>
              <a:srgbClr val="343A40"/>
            </a:solidFill>
            <a:prstDash val="dash"/>
            <a:tailEnd type="triangle" w="med" len="med"/>
          </a:ln>
        </p:spPr>
      </p:cxnSp>
      <p:sp>
        <p:nvSpPr>
          <p:cNvPr id="55" name="text: Canvas → print × 0.6:  20 / 16 / 12 pt →"/>
          <p:cNvSpPr txBox="1"/>
          <p:nvPr/>
        </p:nvSpPr>
        <p:spPr>
          <a:xfrm>
            <a:off x="320040" y="3246120"/>
            <a:ext cx="10058400" cy="36576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868E96"/>
                </a:solidFill>
                <a:latin typeface="Inter"/>
                <a:ea typeface="Inter"/>
                <a:cs typeface="Inter"/>
              </a:rPr>
              <a:t>Canvas → print × 0.6:  20 / 16 / 12 pt → 12 / 9.6 / 7.2 pt   ·   border 1.25 pt   ·   arrow 1.5 pt   ·   radius 0.10 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ME full 11.67x4.45in - architecture"/>
          <p:cNvSpPr/>
          <p:nvPr/>
        </p:nvSpPr>
        <p:spPr>
          <a:xfrm>
            <a:off x="0" y="0"/>
            <a:ext cx="10668000" cy="4069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roup: Frozen backbone"/>
          <p:cNvSpPr/>
          <p:nvPr/>
        </p:nvSpPr>
        <p:spPr>
          <a:xfrm>
            <a:off x="1965960" y="73152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F8F9FA"/>
          </a:solidFill>
          <a:ln w="15875">
            <a:solidFill>
              <a:srgbClr val="DEE2E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: (b)  Example architecture"/>
          <p:cNvSpPr txBox="1"/>
          <p:nvPr/>
        </p:nvSpPr>
        <p:spPr>
          <a:xfrm>
            <a:off x="182880" y="137160"/>
            <a:ext cx="3383280" cy="411480"/>
          </a:xfrm>
          <a:prstGeom prst="rect">
            <a:avLst/>
          </a:prstGeom>
          <a:noFill/>
        </p:spPr>
        <p:txBody>
          <a:bodyPr wrap="none" anchor="t" lIns="109728" rIns="109728" tIns="36576" bIns="36576">
            <a:noAutofit/>
          </a:bodyPr>
          <a:lstStyle/>
          <a:p>
            <a:pPr algn="l"/>
            <a:r>
              <a:rPr b="0" i="0" sz="2000">
                <a:solidFill>
                  <a:srgbClr val="212529"/>
                </a:solidFill>
                <a:latin typeface="Inter SemiBold"/>
                <a:ea typeface="Inter SemiBold"/>
                <a:cs typeface="Inter SemiBold"/>
              </a:rPr>
              <a:t>(b)  Example architecture</a:t>
            </a:r>
          </a:p>
        </p:txBody>
      </p:sp>
      <p:sp>
        <p:nvSpPr>
          <p:cNvPr id="4" name="box: Image $x$"/>
          <p:cNvSpPr/>
          <p:nvPr/>
        </p:nvSpPr>
        <p:spPr>
          <a:xfrm>
            <a:off x="365760" y="1417320"/>
            <a:ext cx="1188720" cy="640080"/>
          </a:xfrm>
          <a:prstGeom prst="roundRect">
            <a:avLst>
              <a:gd name="adj" fmla="val 14285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Image </a:t>
            </a:r>
            <a:r>
              <a:rPr b="0" i="1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x</a:t>
            </a:r>
          </a:p>
        </p:txBody>
      </p:sp>
      <p:sp>
        <p:nvSpPr>
          <p:cNvPr id="6" name="text: Frozen backbone"/>
          <p:cNvSpPr txBox="1"/>
          <p:nvPr/>
        </p:nvSpPr>
        <p:spPr>
          <a:xfrm>
            <a:off x="2057400" y="777240"/>
            <a:ext cx="2880360" cy="365760"/>
          </a:xfrm>
          <a:prstGeom prst="rect">
            <a:avLst/>
          </a:prstGeom>
          <a:noFill/>
        </p:spPr>
        <p:txBody>
          <a:bodyPr wrap="none" anchor="t" lIns="109728" rIns="109728" tIns="36576" bIns="36576">
            <a:noAutofit/>
          </a:bodyPr>
          <a:lstStyle/>
          <a:p>
            <a:pPr algn="l"/>
            <a:r>
              <a:rPr b="0" i="0" sz="1600">
                <a:solidFill>
                  <a:srgbClr val="212529"/>
                </a:solidFill>
                <a:latin typeface="Inter SemiBold"/>
                <a:ea typeface="Inter SemiBold"/>
                <a:cs typeface="Inter SemiBold"/>
              </a:rPr>
              <a:t>Frozen backbone</a:t>
            </a:r>
          </a:p>
        </p:txBody>
      </p:sp>
      <p:grpSp>
        <p:nvGrpSpPr>
          <p:cNvPr id="7" name="icon: snowflake (frozen)"/>
          <p:cNvGrpSpPr/>
          <p:nvPr/>
        </p:nvGrpSpPr>
        <p:grpSpPr>
          <a:xfrm>
            <a:off x="3965448" y="820598"/>
            <a:ext cx="237744" cy="205892"/>
            <a:chOff x="3965448" y="820598"/>
            <a:chExt cx="237744" cy="205892"/>
          </a:xfrm>
        </p:grpSpPr>
        <p:cxnSp>
          <p:nvCxnSpPr>
            <p:cNvPr id="8" name="Connector 7"/>
            <p:cNvCxnSpPr/>
            <p:nvPr/>
          </p:nvCxnSpPr>
          <p:spPr>
            <a:xfrm>
              <a:off x="3965448" y="923544"/>
              <a:ext cx="237744" cy="0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4024884" y="820598"/>
              <a:ext cx="118872" cy="205892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 flipH="1">
              <a:off x="4024884" y="820598"/>
              <a:ext cx="118872" cy="205892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V="1">
              <a:off x="4158021" y="896646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4158021" y="923544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4121170" y="987371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 flipH="1">
              <a:off x="4111325" y="987371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4047470" y="987371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 flipH="1">
              <a:off x="4010727" y="987371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 flipH="1">
              <a:off x="3983722" y="923544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 flipH="1" flipV="1">
              <a:off x="3983722" y="896646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 flipH="1" flipV="1">
              <a:off x="4010727" y="849872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 flipV="1">
              <a:off x="4047470" y="822974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 flipH="1" flipV="1">
              <a:off x="4111325" y="822974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 flipV="1">
              <a:off x="4121170" y="849872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</p:grpSp>
      <p:sp>
        <p:nvSpPr>
          <p:cNvPr id="23" name="box: Stem"/>
          <p:cNvSpPr/>
          <p:nvPr/>
        </p:nvSpPr>
        <p:spPr>
          <a:xfrm>
            <a:off x="2240280" y="1417320"/>
            <a:ext cx="1188720" cy="640080"/>
          </a:xfrm>
          <a:prstGeom prst="roundRect">
            <a:avLst>
              <a:gd name="adj" fmla="val 14285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Stem</a:t>
            </a:r>
          </a:p>
        </p:txBody>
      </p:sp>
      <p:sp>
        <p:nvSpPr>
          <p:cNvPr id="24" name="box: Encoder"/>
          <p:cNvSpPr/>
          <p:nvPr/>
        </p:nvSpPr>
        <p:spPr>
          <a:xfrm>
            <a:off x="3749040" y="1417320"/>
            <a:ext cx="1188720" cy="640080"/>
          </a:xfrm>
          <a:prstGeom prst="roundRect">
            <a:avLst>
              <a:gd name="adj" fmla="val 14285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Encoder</a:t>
            </a:r>
          </a:p>
        </p:txBody>
      </p:sp>
      <p:cxnSp>
        <p:nvCxnSpPr>
          <p:cNvPr id="25" name="arrow"/>
          <p:cNvCxnSpPr>
            <a:stCxn id="4" idx="3"/>
            <a:endCxn id="23" idx="1"/>
          </p:cNvCxnSpPr>
          <p:nvPr/>
        </p:nvCxnSpPr>
        <p:spPr>
          <a:xfrm>
            <a:off x="1554480" y="1737360"/>
            <a:ext cx="68580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cxnSp>
        <p:nvCxnSpPr>
          <p:cNvPr id="26" name="arrow"/>
          <p:cNvCxnSpPr>
            <a:stCxn id="23" idx="3"/>
            <a:endCxn id="24" idx="1"/>
          </p:cNvCxnSpPr>
          <p:nvPr/>
        </p:nvCxnSpPr>
        <p:spPr>
          <a:xfrm>
            <a:off x="3429000" y="1737360"/>
            <a:ext cx="32004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sp>
        <p:nvSpPr>
          <p:cNvPr id="27" name="dot"/>
          <p:cNvSpPr/>
          <p:nvPr/>
        </p:nvSpPr>
        <p:spPr>
          <a:xfrm>
            <a:off x="5449824" y="1700784"/>
            <a:ext cx="73152" cy="73152"/>
          </a:xfrm>
          <a:prstGeom prst="ellipse">
            <a:avLst/>
          </a:prstGeom>
          <a:solidFill>
            <a:srgbClr val="343A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ath"/>
          <p:cNvSpPr/>
          <p:nvPr/>
        </p:nvSpPr>
        <p:spPr>
          <a:xfrm>
            <a:off x="4937760" y="1737360"/>
            <a:ext cx="548640" cy="0"/>
          </a:xfrm>
          <a:custGeom>
            <a:avLst/>
            <a:gdLst/>
            <a:ahLst/>
            <a:cxnLst/>
            <a:rect l="l" t="t" r="r" b="b"/>
            <a:pathLst>
              <a:path w="548640" h="0">
                <a:moveTo>
                  <a:pt x="0" y="0"/>
                </a:moveTo>
                <a:lnTo>
                  <a:pt x="548640" y="0"/>
                </a:lnTo>
              </a:path>
            </a:pathLst>
          </a:custGeom>
          <a:noFill/>
          <a:ln w="19050">
            <a:solidFill>
              <a:srgbClr val="343A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box: Head"/>
          <p:cNvSpPr/>
          <p:nvPr/>
        </p:nvSpPr>
        <p:spPr>
          <a:xfrm>
            <a:off x="5897880" y="685800"/>
            <a:ext cx="1280160" cy="640080"/>
          </a:xfrm>
          <a:prstGeom prst="roundRect">
            <a:avLst>
              <a:gd name="adj" fmla="val 14285"/>
            </a:avLst>
          </a:prstGeom>
          <a:solidFill>
            <a:srgbClr val="F1F3F5"/>
          </a:solidFill>
          <a:ln w="15875">
            <a:solidFill>
              <a:srgbClr val="ADB5BD"/>
            </a:solidFill>
          </a:ln>
          <a:effectLst/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Head</a:t>
            </a:r>
          </a:p>
        </p:txBody>
      </p:sp>
      <p:sp>
        <p:nvSpPr>
          <p:cNvPr id="30" name="box: Adapter"/>
          <p:cNvSpPr/>
          <p:nvPr/>
        </p:nvSpPr>
        <p:spPr>
          <a:xfrm>
            <a:off x="5897880" y="2148840"/>
            <a:ext cx="1280160" cy="640080"/>
          </a:xfrm>
          <a:prstGeom prst="roundRect">
            <a:avLst>
              <a:gd name="adj" fmla="val 14285"/>
            </a:avLst>
          </a:prstGeom>
          <a:solidFill>
            <a:srgbClr val="FFE8CC"/>
          </a:solidFill>
          <a:ln w="25400">
            <a:solidFill>
              <a:srgbClr val="FD7E14"/>
            </a:solidFill>
          </a:ln>
          <a:effectLst>
            <a:glow rad="76200">
              <a:srgbClr val="FFC078">
                <a:alpha val="55000"/>
              </a:srgbClr>
            </a:glo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b="0" i="0" sz="1600">
                <a:solidFill>
                  <a:srgbClr val="D9480F"/>
                </a:solidFill>
                <a:latin typeface="Inter Medium"/>
                <a:ea typeface="Inter Medium"/>
                <a:cs typeface="Inter Medium"/>
              </a:rPr>
              <a:t>Adapter</a:t>
            </a:r>
          </a:p>
        </p:txBody>
      </p:sp>
      <p:grpSp>
        <p:nvGrpSpPr>
          <p:cNvPr id="31" name="icon: flame (trainable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2" name="Freeform 31"/>
            <p:cNvSpPr/>
            <p:nvPr/>
          </p:nvSpPr>
          <p:spPr>
            <a:xfrm>
              <a:off x="7108513" y="2020824"/>
              <a:ext cx="157342" cy="256032"/>
            </a:xfrm>
            <a:custGeom>
              <a:avLst/>
              <a:gdLst/>
              <a:ahLst/>
              <a:cxnLst/>
              <a:rect l="l" t="t" r="r" b="b"/>
              <a:pathLst>
                <a:path w="157342" h="256032">
                  <a:moveTo>
                    <a:pt x="78671" y="0"/>
                  </a:moveTo>
                  <a:lnTo>
                    <a:pt x="79545" y="1095"/>
                  </a:lnTo>
                  <a:lnTo>
                    <a:pt x="82131" y="4362"/>
                  </a:lnTo>
                  <a:lnTo>
                    <a:pt x="86317" y="9745"/>
                  </a:lnTo>
                  <a:lnTo>
                    <a:pt x="91924" y="17151"/>
                  </a:lnTo>
                  <a:lnTo>
                    <a:pt x="98711" y="26454"/>
                  </a:lnTo>
                  <a:lnTo>
                    <a:pt x="106384" y="37495"/>
                  </a:lnTo>
                  <a:lnTo>
                    <a:pt x="114607" y="50085"/>
                  </a:lnTo>
                  <a:lnTo>
                    <a:pt x="123017" y="64008"/>
                  </a:lnTo>
                  <a:lnTo>
                    <a:pt x="131237" y="79026"/>
                  </a:lnTo>
                  <a:lnTo>
                    <a:pt x="138892" y="94883"/>
                  </a:lnTo>
                  <a:lnTo>
                    <a:pt x="145619" y="111307"/>
                  </a:lnTo>
                  <a:lnTo>
                    <a:pt x="151088" y="128016"/>
                  </a:lnTo>
                  <a:lnTo>
                    <a:pt x="155010" y="144725"/>
                  </a:lnTo>
                  <a:lnTo>
                    <a:pt x="157152" y="161149"/>
                  </a:lnTo>
                  <a:lnTo>
                    <a:pt x="157342" y="177006"/>
                  </a:lnTo>
                  <a:lnTo>
                    <a:pt x="155481" y="192024"/>
                  </a:lnTo>
                  <a:lnTo>
                    <a:pt x="151541" y="205947"/>
                  </a:lnTo>
                  <a:lnTo>
                    <a:pt x="145575" y="218537"/>
                  </a:lnTo>
                  <a:lnTo>
                    <a:pt x="137707" y="229578"/>
                  </a:lnTo>
                  <a:lnTo>
                    <a:pt x="128133" y="238881"/>
                  </a:lnTo>
                  <a:lnTo>
                    <a:pt x="117110" y="246287"/>
                  </a:lnTo>
                  <a:lnTo>
                    <a:pt x="104951" y="251670"/>
                  </a:lnTo>
                  <a:lnTo>
                    <a:pt x="92010" y="254937"/>
                  </a:lnTo>
                  <a:lnTo>
                    <a:pt x="78671" y="256032"/>
                  </a:lnTo>
                  <a:lnTo>
                    <a:pt x="65332" y="254937"/>
                  </a:lnTo>
                  <a:lnTo>
                    <a:pt x="52391" y="251670"/>
                  </a:lnTo>
                  <a:lnTo>
                    <a:pt x="40232" y="246287"/>
                  </a:lnTo>
                  <a:lnTo>
                    <a:pt x="29209" y="238881"/>
                  </a:lnTo>
                  <a:lnTo>
                    <a:pt x="19635" y="229578"/>
                  </a:lnTo>
                  <a:lnTo>
                    <a:pt x="11767" y="218537"/>
                  </a:lnTo>
                  <a:lnTo>
                    <a:pt x="5801" y="205947"/>
                  </a:lnTo>
                  <a:lnTo>
                    <a:pt x="1861" y="192024"/>
                  </a:lnTo>
                  <a:lnTo>
                    <a:pt x="0" y="177006"/>
                  </a:lnTo>
                  <a:lnTo>
                    <a:pt x="190" y="161149"/>
                  </a:lnTo>
                  <a:lnTo>
                    <a:pt x="2332" y="144725"/>
                  </a:lnTo>
                  <a:lnTo>
                    <a:pt x="6254" y="128016"/>
                  </a:lnTo>
                  <a:lnTo>
                    <a:pt x="11723" y="111307"/>
                  </a:lnTo>
                  <a:lnTo>
                    <a:pt x="18450" y="94883"/>
                  </a:lnTo>
                  <a:lnTo>
                    <a:pt x="26105" y="79026"/>
                  </a:lnTo>
                  <a:lnTo>
                    <a:pt x="34325" y="64008"/>
                  </a:lnTo>
                  <a:lnTo>
                    <a:pt x="42735" y="50085"/>
                  </a:lnTo>
                  <a:lnTo>
                    <a:pt x="50958" y="37495"/>
                  </a:lnTo>
                  <a:lnTo>
                    <a:pt x="58631" y="26454"/>
                  </a:lnTo>
                  <a:lnTo>
                    <a:pt x="65418" y="17151"/>
                  </a:lnTo>
                  <a:lnTo>
                    <a:pt x="71025" y="9745"/>
                  </a:lnTo>
                  <a:lnTo>
                    <a:pt x="75211" y="4362"/>
                  </a:lnTo>
                  <a:lnTo>
                    <a:pt x="77797" y="1095"/>
                  </a:lnTo>
                  <a:lnTo>
                    <a:pt x="78671" y="0"/>
                  </a:lnTo>
                  <a:close/>
                </a:path>
              </a:pathLst>
            </a:custGeom>
            <a:solidFill>
              <a:srgbClr val="FD7E1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7147848" y="2138599"/>
              <a:ext cx="78672" cy="128016"/>
            </a:xfrm>
            <a:custGeom>
              <a:avLst/>
              <a:gdLst/>
              <a:ahLst/>
              <a:cxnLst/>
              <a:rect l="l" t="t" r="r" b="b"/>
              <a:pathLst>
                <a:path w="78672" h="128016">
                  <a:moveTo>
                    <a:pt x="39336" y="0"/>
                  </a:moveTo>
                  <a:lnTo>
                    <a:pt x="39773" y="547"/>
                  </a:lnTo>
                  <a:lnTo>
                    <a:pt x="41066" y="2181"/>
                  </a:lnTo>
                  <a:lnTo>
                    <a:pt x="43159" y="4872"/>
                  </a:lnTo>
                  <a:lnTo>
                    <a:pt x="45963" y="8575"/>
                  </a:lnTo>
                  <a:lnTo>
                    <a:pt x="49356" y="13227"/>
                  </a:lnTo>
                  <a:lnTo>
                    <a:pt x="53192" y="18747"/>
                  </a:lnTo>
                  <a:lnTo>
                    <a:pt x="57304" y="25042"/>
                  </a:lnTo>
                  <a:lnTo>
                    <a:pt x="61509" y="32004"/>
                  </a:lnTo>
                  <a:lnTo>
                    <a:pt x="65619" y="39513"/>
                  </a:lnTo>
                  <a:lnTo>
                    <a:pt x="69446" y="47441"/>
                  </a:lnTo>
                  <a:lnTo>
                    <a:pt x="72810" y="55653"/>
                  </a:lnTo>
                  <a:lnTo>
                    <a:pt x="75544" y="64008"/>
                  </a:lnTo>
                  <a:lnTo>
                    <a:pt x="77506" y="72362"/>
                  </a:lnTo>
                  <a:lnTo>
                    <a:pt x="78577" y="80574"/>
                  </a:lnTo>
                  <a:lnTo>
                    <a:pt x="78672" y="88503"/>
                  </a:lnTo>
                  <a:lnTo>
                    <a:pt x="77741" y="96012"/>
                  </a:lnTo>
                  <a:lnTo>
                    <a:pt x="75771" y="102973"/>
                  </a:lnTo>
                  <a:lnTo>
                    <a:pt x="72788" y="109268"/>
                  </a:lnTo>
                  <a:lnTo>
                    <a:pt x="68854" y="114789"/>
                  </a:lnTo>
                  <a:lnTo>
                    <a:pt x="64067" y="119440"/>
                  </a:lnTo>
                  <a:lnTo>
                    <a:pt x="58555" y="123143"/>
                  </a:lnTo>
                  <a:lnTo>
                    <a:pt x="52476" y="125835"/>
                  </a:lnTo>
                  <a:lnTo>
                    <a:pt x="46005" y="127468"/>
                  </a:lnTo>
                  <a:lnTo>
                    <a:pt x="39336" y="128016"/>
                  </a:lnTo>
                  <a:lnTo>
                    <a:pt x="32667" y="127468"/>
                  </a:lnTo>
                  <a:lnTo>
                    <a:pt x="26196" y="125835"/>
                  </a:lnTo>
                  <a:lnTo>
                    <a:pt x="20117" y="123143"/>
                  </a:lnTo>
                  <a:lnTo>
                    <a:pt x="14605" y="119440"/>
                  </a:lnTo>
                  <a:lnTo>
                    <a:pt x="9818" y="114789"/>
                  </a:lnTo>
                  <a:lnTo>
                    <a:pt x="5884" y="109268"/>
                  </a:lnTo>
                  <a:lnTo>
                    <a:pt x="2901" y="102973"/>
                  </a:lnTo>
                  <a:lnTo>
                    <a:pt x="931" y="96012"/>
                  </a:lnTo>
                  <a:lnTo>
                    <a:pt x="0" y="88503"/>
                  </a:lnTo>
                  <a:lnTo>
                    <a:pt x="95" y="80574"/>
                  </a:lnTo>
                  <a:lnTo>
                    <a:pt x="1166" y="72362"/>
                  </a:lnTo>
                  <a:lnTo>
                    <a:pt x="3128" y="64008"/>
                  </a:lnTo>
                  <a:lnTo>
                    <a:pt x="5862" y="55653"/>
                  </a:lnTo>
                  <a:lnTo>
                    <a:pt x="9226" y="47441"/>
                  </a:lnTo>
                  <a:lnTo>
                    <a:pt x="13053" y="39513"/>
                  </a:lnTo>
                  <a:lnTo>
                    <a:pt x="17163" y="32004"/>
                  </a:lnTo>
                  <a:lnTo>
                    <a:pt x="21368" y="25042"/>
                  </a:lnTo>
                  <a:lnTo>
                    <a:pt x="25480" y="18747"/>
                  </a:lnTo>
                  <a:lnTo>
                    <a:pt x="29316" y="13227"/>
                  </a:lnTo>
                  <a:lnTo>
                    <a:pt x="32709" y="8575"/>
                  </a:lnTo>
                  <a:lnTo>
                    <a:pt x="35513" y="4872"/>
                  </a:lnTo>
                  <a:lnTo>
                    <a:pt x="37606" y="2181"/>
                  </a:lnTo>
                  <a:lnTo>
                    <a:pt x="38899" y="547"/>
                  </a:lnTo>
                  <a:lnTo>
                    <a:pt x="39336" y="0"/>
                  </a:lnTo>
                  <a:close/>
                </a:path>
              </a:pathLst>
            </a:custGeom>
            <a:solidFill>
              <a:srgbClr val="FFC07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path"/>
          <p:cNvSpPr/>
          <p:nvPr/>
        </p:nvSpPr>
        <p:spPr>
          <a:xfrm>
            <a:off x="5486400" y="1005840"/>
            <a:ext cx="411480" cy="731520"/>
          </a:xfrm>
          <a:custGeom>
            <a:avLst/>
            <a:gdLst/>
            <a:ahLst/>
            <a:cxnLst/>
            <a:rect l="l" t="t" r="r" b="b"/>
            <a:pathLst>
              <a:path w="411480" h="731520">
                <a:moveTo>
                  <a:pt x="0" y="731520"/>
                </a:moveTo>
                <a:lnTo>
                  <a:pt x="0" y="0"/>
                </a:lnTo>
                <a:lnTo>
                  <a:pt x="411480" y="0"/>
                </a:lnTo>
              </a:path>
            </a:pathLst>
          </a:custGeom>
          <a:noFill/>
          <a:ln w="19050">
            <a:solidFill>
              <a:srgbClr val="343A4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"/>
          <p:cNvSpPr/>
          <p:nvPr/>
        </p:nvSpPr>
        <p:spPr>
          <a:xfrm>
            <a:off x="5486400" y="1737360"/>
            <a:ext cx="411480" cy="731520"/>
          </a:xfrm>
          <a:custGeom>
            <a:avLst/>
            <a:gdLst/>
            <a:ahLst/>
            <a:cxnLst/>
            <a:rect l="l" t="t" r="r" b="b"/>
            <a:pathLst>
              <a:path w="411480" h="731520">
                <a:moveTo>
                  <a:pt x="0" y="0"/>
                </a:moveTo>
                <a:lnTo>
                  <a:pt x="0" y="731520"/>
                </a:lnTo>
                <a:lnTo>
                  <a:pt x="411480" y="731520"/>
                </a:lnTo>
              </a:path>
            </a:pathLst>
          </a:custGeom>
          <a:noFill/>
          <a:ln w="19050">
            <a:solidFill>
              <a:srgbClr val="343A4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36" name="vector"/>
          <p:cNvGrpSpPr/>
          <p:nvPr/>
        </p:nvGrpSpPr>
        <p:grpSpPr>
          <a:xfrm>
            <a:off x="7589520" y="658368"/>
            <a:ext cx="146304" cy="694944"/>
            <a:chOff x="7589520" y="658368"/>
            <a:chExt cx="146304" cy="694944"/>
          </a:xfrm>
        </p:grpSpPr>
        <p:sp>
          <p:nvSpPr>
            <p:cNvPr id="37" name="Rounded Rectangle 36"/>
            <p:cNvSpPr/>
            <p:nvPr/>
          </p:nvSpPr>
          <p:spPr>
            <a:xfrm>
              <a:off x="7589520" y="65836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7589520" y="84124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7589520" y="102412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589520" y="120700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1F3F5"/>
            </a:solidFill>
            <a:ln w="15875">
              <a:solidFill>
                <a:srgbClr val="ADB5BD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" name="vector"/>
          <p:cNvGrpSpPr/>
          <p:nvPr/>
        </p:nvGrpSpPr>
        <p:grpSpPr>
          <a:xfrm>
            <a:off x="7589520" y="2121408"/>
            <a:ext cx="146304" cy="694944"/>
            <a:chOff x="7589520" y="2121408"/>
            <a:chExt cx="146304" cy="694944"/>
          </a:xfrm>
        </p:grpSpPr>
        <p:sp>
          <p:nvSpPr>
            <p:cNvPr id="42" name="Rounded Rectangle 41"/>
            <p:cNvSpPr/>
            <p:nvPr/>
          </p:nvSpPr>
          <p:spPr>
            <a:xfrm>
              <a:off x="7589520" y="212140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589520" y="230428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7589520" y="248716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589520" y="267004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FFE8CC"/>
            </a:solidFill>
            <a:ln w="15875">
              <a:solidFill>
                <a:srgbClr val="FD7E1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ext: $e_0$"/>
          <p:cNvSpPr txBox="1"/>
          <p:nvPr/>
        </p:nvSpPr>
        <p:spPr>
          <a:xfrm>
            <a:off x="7360920" y="274320"/>
            <a:ext cx="640080" cy="36576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ctr"/>
            <a:r>
              <a:rPr b="0" i="1" sz="1600">
                <a:solidFill>
                  <a:srgbClr val="343A40"/>
                </a:solidFill>
                <a:latin typeface="Inter"/>
                <a:ea typeface="Inter"/>
                <a:cs typeface="Inter"/>
              </a:rPr>
              <a:t>e</a:t>
            </a:r>
            <a:r>
              <a:rPr b="0" i="0" sz="1600" baseline="-25000">
                <a:solidFill>
                  <a:srgbClr val="343A40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47" name="text: $e_1$"/>
          <p:cNvSpPr txBox="1"/>
          <p:nvPr/>
        </p:nvSpPr>
        <p:spPr>
          <a:xfrm>
            <a:off x="7360920" y="2834640"/>
            <a:ext cx="640080" cy="32004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ctr"/>
            <a:r>
              <a:rPr b="0" i="1" sz="1600">
                <a:solidFill>
                  <a:srgbClr val="D9480F"/>
                </a:solidFill>
                <a:latin typeface="Inter"/>
                <a:ea typeface="Inter"/>
                <a:cs typeface="Inter"/>
              </a:rPr>
              <a:t>e</a:t>
            </a:r>
            <a:r>
              <a:rPr b="0" i="0" sz="1600" baseline="-25000">
                <a:solidFill>
                  <a:srgbClr val="D9480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cxnSp>
        <p:nvCxnSpPr>
          <p:cNvPr id="48" name="arrow"/>
          <p:cNvCxnSpPr>
            <a:stCxn id="29" idx="3"/>
          </p:cNvCxnSpPr>
          <p:nvPr/>
        </p:nvCxnSpPr>
        <p:spPr>
          <a:xfrm>
            <a:off x="7178040" y="1005840"/>
            <a:ext cx="41148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cxnSp>
        <p:nvCxnSpPr>
          <p:cNvPr id="49" name="arrow"/>
          <p:cNvCxnSpPr>
            <a:stCxn id="30" idx="3"/>
          </p:cNvCxnSpPr>
          <p:nvPr/>
        </p:nvCxnSpPr>
        <p:spPr>
          <a:xfrm>
            <a:off x="7178040" y="2468880"/>
            <a:ext cx="41148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sp>
        <p:nvSpPr>
          <p:cNvPr id="50" name="op +"/>
          <p:cNvSpPr/>
          <p:nvPr/>
        </p:nvSpPr>
        <p:spPr>
          <a:xfrm>
            <a:off x="8385048" y="1572768"/>
            <a:ext cx="329184" cy="329184"/>
          </a:xfrm>
          <a:prstGeom prst="ellipse">
            <a:avLst/>
          </a:prstGeom>
          <a:solidFill>
            <a:srgbClr val="E5DBFF"/>
          </a:solidFill>
          <a:ln w="25400">
            <a:solidFill>
              <a:srgbClr val="7950F2"/>
            </a:solidFill>
          </a:ln>
          <a:effectLst>
            <a:glow rad="76200">
              <a:srgbClr val="B197FC">
                <a:alpha val="55000"/>
              </a:srgbClr>
            </a:glow>
          </a:effectLst>
        </p:spPr>
        <p:txBody>
          <a:bodyPr rtlCol="0" anchor="ctr" wrap="none" lIns="0" rIns="0" tIns="0" bIns="0">
            <a:noAutofit/>
          </a:bodyPr>
          <a:lstStyle/>
          <a:p>
            <a:pPr algn="ctr"/>
            <a:r>
              <a:rPr b="0" i="0" sz="2000">
                <a:solidFill>
                  <a:srgbClr val="5F3DC4"/>
                </a:solidFill>
                <a:latin typeface="Inter Medium"/>
                <a:ea typeface="Inter Medium"/>
                <a:cs typeface="Inter Medium"/>
              </a:rPr>
              <a:t>+</a:t>
            </a:r>
          </a:p>
        </p:txBody>
      </p:sp>
      <p:sp>
        <p:nvSpPr>
          <p:cNvPr id="51" name="path"/>
          <p:cNvSpPr/>
          <p:nvPr/>
        </p:nvSpPr>
        <p:spPr>
          <a:xfrm>
            <a:off x="7726680" y="1005840"/>
            <a:ext cx="822960" cy="548640"/>
          </a:xfrm>
          <a:custGeom>
            <a:avLst/>
            <a:gdLst/>
            <a:ahLst/>
            <a:cxnLst/>
            <a:rect l="l" t="t" r="r" b="b"/>
            <a:pathLst>
              <a:path w="822960" h="548640">
                <a:moveTo>
                  <a:pt x="0" y="0"/>
                </a:moveTo>
                <a:lnTo>
                  <a:pt x="822960" y="0"/>
                </a:lnTo>
                <a:lnTo>
                  <a:pt x="822960" y="548640"/>
                </a:lnTo>
              </a:path>
            </a:pathLst>
          </a:custGeom>
          <a:noFill/>
          <a:ln w="19050">
            <a:solidFill>
              <a:srgbClr val="343A4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"/>
          <p:cNvSpPr/>
          <p:nvPr/>
        </p:nvSpPr>
        <p:spPr>
          <a:xfrm>
            <a:off x="7726680" y="1920240"/>
            <a:ext cx="822960" cy="548640"/>
          </a:xfrm>
          <a:custGeom>
            <a:avLst/>
            <a:gdLst/>
            <a:ahLst/>
            <a:cxnLst/>
            <a:rect l="l" t="t" r="r" b="b"/>
            <a:pathLst>
              <a:path w="822960" h="548640">
                <a:moveTo>
                  <a:pt x="0" y="548640"/>
                </a:moveTo>
                <a:lnTo>
                  <a:pt x="822960" y="548640"/>
                </a:lnTo>
                <a:lnTo>
                  <a:pt x="822960" y="0"/>
                </a:lnTo>
              </a:path>
            </a:pathLst>
          </a:custGeom>
          <a:noFill/>
          <a:ln w="19050">
            <a:solidFill>
              <a:srgbClr val="343A4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: $α$"/>
          <p:cNvSpPr txBox="1"/>
          <p:nvPr/>
        </p:nvSpPr>
        <p:spPr>
          <a:xfrm>
            <a:off x="7955280" y="1143000"/>
            <a:ext cx="548640" cy="32004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r"/>
            <a:r>
              <a:rPr b="0" i="1" sz="1200">
                <a:solidFill>
                  <a:srgbClr val="343A40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sp>
        <p:nvSpPr>
          <p:cNvPr id="54" name="text: $1−α$"/>
          <p:cNvSpPr txBox="1"/>
          <p:nvPr/>
        </p:nvSpPr>
        <p:spPr>
          <a:xfrm>
            <a:off x="7772400" y="2011680"/>
            <a:ext cx="731520" cy="32004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r"/>
            <a:r>
              <a:rPr b="0" i="0" sz="1200">
                <a:solidFill>
                  <a:srgbClr val="343A40"/>
                </a:solidFill>
                <a:latin typeface="Inter"/>
                <a:ea typeface="Inter"/>
                <a:cs typeface="Inter"/>
              </a:rPr>
              <a:t>1−</a:t>
            </a:r>
            <a:r>
              <a:rPr b="0" i="1" sz="1200">
                <a:solidFill>
                  <a:srgbClr val="343A40"/>
                </a:solidFill>
                <a:latin typeface="Inter"/>
                <a:ea typeface="Inter"/>
                <a:cs typeface="Inter"/>
              </a:rPr>
              <a:t>α</a:t>
            </a:r>
          </a:p>
        </p:txBody>
      </p:sp>
      <p:grpSp>
        <p:nvGrpSpPr>
          <p:cNvPr id="55" name="vector"/>
          <p:cNvGrpSpPr/>
          <p:nvPr/>
        </p:nvGrpSpPr>
        <p:grpSpPr>
          <a:xfrm>
            <a:off x="9189720" y="1389888"/>
            <a:ext cx="146304" cy="694944"/>
            <a:chOff x="9189720" y="1389888"/>
            <a:chExt cx="146304" cy="694944"/>
          </a:xfrm>
        </p:grpSpPr>
        <p:sp>
          <p:nvSpPr>
            <p:cNvPr id="56" name="Rounded Rectangle 55"/>
            <p:cNvSpPr/>
            <p:nvPr/>
          </p:nvSpPr>
          <p:spPr>
            <a:xfrm>
              <a:off x="9189720" y="138988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9189720" y="157276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9189720" y="175564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9189720" y="1938528"/>
              <a:ext cx="146304" cy="146304"/>
            </a:xfrm>
            <a:prstGeom prst="roundRect">
              <a:avLst>
                <a:gd name="adj" fmla="val 25000"/>
              </a:avLst>
            </a:prstGeom>
            <a:solidFill>
              <a:srgbClr val="E5DBFF"/>
            </a:solidFill>
            <a:ln w="15875">
              <a:solidFill>
                <a:srgbClr val="7950F2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60" name="arrow"/>
          <p:cNvCxnSpPr>
            <a:stCxn id="50" idx="6"/>
          </p:cNvCxnSpPr>
          <p:nvPr/>
        </p:nvCxnSpPr>
        <p:spPr>
          <a:xfrm>
            <a:off x="8714232" y="1737360"/>
            <a:ext cx="475488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sp>
        <p:nvSpPr>
          <p:cNvPr id="61" name="text: $z$"/>
          <p:cNvSpPr txBox="1"/>
          <p:nvPr/>
        </p:nvSpPr>
        <p:spPr>
          <a:xfrm>
            <a:off x="8961120" y="960120"/>
            <a:ext cx="640080" cy="36576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ctr"/>
            <a:r>
              <a:rPr b="0" i="1" sz="1600">
                <a:solidFill>
                  <a:srgbClr val="5F3DC4"/>
                </a:solidFill>
                <a:latin typeface="Inter"/>
                <a:ea typeface="Inter"/>
                <a:cs typeface="Inter"/>
              </a:rPr>
              <a:t>z</a:t>
            </a:r>
          </a:p>
        </p:txBody>
      </p:sp>
      <p:sp>
        <p:nvSpPr>
          <p:cNvPr id="62" name="text: $L_{task}$"/>
          <p:cNvSpPr txBox="1"/>
          <p:nvPr/>
        </p:nvSpPr>
        <p:spPr>
          <a:xfrm>
            <a:off x="8823960" y="2377440"/>
            <a:ext cx="914400" cy="36576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ctr"/>
            <a:r>
              <a:rPr b="0" i="1" sz="1600">
                <a:solidFill>
                  <a:srgbClr val="343A40"/>
                </a:solidFill>
                <a:latin typeface="Inter"/>
                <a:ea typeface="Inter"/>
                <a:cs typeface="Inter"/>
              </a:rPr>
              <a:t>L</a:t>
            </a:r>
            <a:r>
              <a:rPr b="0" i="0" sz="1600" baseline="-25000">
                <a:solidFill>
                  <a:srgbClr val="343A40"/>
                </a:solidFill>
                <a:latin typeface="Inter"/>
                <a:ea typeface="Inter"/>
                <a:cs typeface="Inter"/>
              </a:rPr>
              <a:t>task</a:t>
            </a:r>
          </a:p>
        </p:txBody>
      </p:sp>
      <p:cxnSp>
        <p:nvCxnSpPr>
          <p:cNvPr id="63" name="arrow"/>
          <p:cNvCxnSpPr/>
          <p:nvPr/>
        </p:nvCxnSpPr>
        <p:spPr>
          <a:xfrm>
            <a:off x="9262872" y="2157984"/>
            <a:ext cx="0" cy="237744"/>
          </a:xfrm>
          <a:prstGeom prst="line">
            <a:avLst/>
          </a:prstGeom>
          <a:ln w="19050">
            <a:solidFill>
              <a:srgbClr val="343A40"/>
            </a:solidFill>
            <a:prstDash val="dash"/>
            <a:tailEnd type="triangle" w="med" len="med"/>
          </a:ln>
        </p:spPr>
      </p:cxnSp>
      <p:sp>
        <p:nvSpPr>
          <p:cNvPr id="64" name="path"/>
          <p:cNvSpPr/>
          <p:nvPr/>
        </p:nvSpPr>
        <p:spPr>
          <a:xfrm>
            <a:off x="6537960" y="2743200"/>
            <a:ext cx="2743200" cy="594360"/>
          </a:xfrm>
          <a:custGeom>
            <a:avLst/>
            <a:gdLst/>
            <a:ahLst/>
            <a:cxnLst/>
            <a:rect l="l" t="t" r="r" b="b"/>
            <a:pathLst>
              <a:path w="2743200" h="594360">
                <a:moveTo>
                  <a:pt x="2743200" y="0"/>
                </a:moveTo>
                <a:lnTo>
                  <a:pt x="2743200" y="594360"/>
                </a:lnTo>
                <a:lnTo>
                  <a:pt x="0" y="594360"/>
                </a:lnTo>
                <a:lnTo>
                  <a:pt x="0" y="45720"/>
                </a:lnTo>
              </a:path>
            </a:pathLst>
          </a:custGeom>
          <a:noFill/>
          <a:ln w="19050">
            <a:solidFill>
              <a:srgbClr val="343A40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arrow"/>
          <p:cNvCxnSpPr/>
          <p:nvPr/>
        </p:nvCxnSpPr>
        <p:spPr>
          <a:xfrm>
            <a:off x="365760" y="3749040"/>
            <a:ext cx="411480" cy="0"/>
          </a:xfrm>
          <a:prstGeom prst="line">
            <a:avLst/>
          </a:prstGeom>
          <a:ln w="19050">
            <a:solidFill>
              <a:srgbClr val="343A40"/>
            </a:solidFill>
            <a:tailEnd type="triangle" w="med" len="med"/>
          </a:ln>
        </p:spPr>
      </p:cxnSp>
      <p:sp>
        <p:nvSpPr>
          <p:cNvPr id="66" name="text: Forward pass"/>
          <p:cNvSpPr txBox="1"/>
          <p:nvPr/>
        </p:nvSpPr>
        <p:spPr>
          <a:xfrm>
            <a:off x="777240" y="3611880"/>
            <a:ext cx="1234440" cy="27432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868E96"/>
                </a:solidFill>
                <a:latin typeface="Inter"/>
                <a:ea typeface="Inter"/>
                <a:cs typeface="Inter"/>
              </a:rPr>
              <a:t>Forward pass</a:t>
            </a:r>
          </a:p>
        </p:txBody>
      </p:sp>
      <p:cxnSp>
        <p:nvCxnSpPr>
          <p:cNvPr id="67" name="arrow"/>
          <p:cNvCxnSpPr/>
          <p:nvPr/>
        </p:nvCxnSpPr>
        <p:spPr>
          <a:xfrm>
            <a:off x="2417064" y="3749040"/>
            <a:ext cx="411480" cy="0"/>
          </a:xfrm>
          <a:prstGeom prst="line">
            <a:avLst/>
          </a:prstGeom>
          <a:ln w="19050">
            <a:solidFill>
              <a:srgbClr val="343A40"/>
            </a:solidFill>
            <a:prstDash val="dash"/>
            <a:tailEnd type="triangle" w="med" len="med"/>
          </a:ln>
        </p:spPr>
      </p:cxnSp>
      <p:sp>
        <p:nvSpPr>
          <p:cNvPr id="68" name="text: Training only"/>
          <p:cNvSpPr txBox="1"/>
          <p:nvPr/>
        </p:nvSpPr>
        <p:spPr>
          <a:xfrm>
            <a:off x="2834640" y="3611880"/>
            <a:ext cx="1188720" cy="27432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868E96"/>
                </a:solidFill>
                <a:latin typeface="Inter"/>
                <a:ea typeface="Inter"/>
                <a:cs typeface="Inter"/>
              </a:rPr>
              <a:t>Training only</a:t>
            </a:r>
          </a:p>
        </p:txBody>
      </p:sp>
      <p:grpSp>
        <p:nvGrpSpPr>
          <p:cNvPr id="69" name="icon: snowflake (frozen)"/>
          <p:cNvGrpSpPr/>
          <p:nvPr/>
        </p:nvGrpSpPr>
        <p:grpSpPr>
          <a:xfrm>
            <a:off x="4420362" y="3646094"/>
            <a:ext cx="237744" cy="205892"/>
            <a:chOff x="4420362" y="3646094"/>
            <a:chExt cx="237744" cy="205892"/>
          </a:xfrm>
        </p:grpSpPr>
        <p:cxnSp>
          <p:nvCxnSpPr>
            <p:cNvPr id="70" name="Connector 69"/>
            <p:cNvCxnSpPr/>
            <p:nvPr/>
          </p:nvCxnSpPr>
          <p:spPr>
            <a:xfrm>
              <a:off x="4420362" y="3749040"/>
              <a:ext cx="237744" cy="0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1" name="Connector 70"/>
            <p:cNvCxnSpPr/>
            <p:nvPr/>
          </p:nvCxnSpPr>
          <p:spPr>
            <a:xfrm>
              <a:off x="4479798" y="3646094"/>
              <a:ext cx="118872" cy="205892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2" name="Connector 71"/>
            <p:cNvCxnSpPr/>
            <p:nvPr/>
          </p:nvCxnSpPr>
          <p:spPr>
            <a:xfrm flipH="1">
              <a:off x="4479798" y="3646094"/>
              <a:ext cx="118872" cy="205892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3" name="Connector 72"/>
            <p:cNvCxnSpPr/>
            <p:nvPr/>
          </p:nvCxnSpPr>
          <p:spPr>
            <a:xfrm flipV="1">
              <a:off x="4612935" y="3722142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4" name="Connector 73"/>
            <p:cNvCxnSpPr/>
            <p:nvPr/>
          </p:nvCxnSpPr>
          <p:spPr>
            <a:xfrm>
              <a:off x="4612935" y="3749040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5" name="Connector 74"/>
            <p:cNvCxnSpPr/>
            <p:nvPr/>
          </p:nvCxnSpPr>
          <p:spPr>
            <a:xfrm>
              <a:off x="4576084" y="3812867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6" name="Connector 75"/>
            <p:cNvCxnSpPr/>
            <p:nvPr/>
          </p:nvCxnSpPr>
          <p:spPr>
            <a:xfrm flipH="1">
              <a:off x="4566239" y="3812867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7" name="Connector 76"/>
            <p:cNvCxnSpPr/>
            <p:nvPr/>
          </p:nvCxnSpPr>
          <p:spPr>
            <a:xfrm>
              <a:off x="4502384" y="3812867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8" name="Connector 77"/>
            <p:cNvCxnSpPr/>
            <p:nvPr/>
          </p:nvCxnSpPr>
          <p:spPr>
            <a:xfrm flipH="1">
              <a:off x="4465641" y="3812867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79" name="Connector 78"/>
            <p:cNvCxnSpPr/>
            <p:nvPr/>
          </p:nvCxnSpPr>
          <p:spPr>
            <a:xfrm flipH="1">
              <a:off x="4438636" y="3749040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80" name="Connector 79"/>
            <p:cNvCxnSpPr/>
            <p:nvPr/>
          </p:nvCxnSpPr>
          <p:spPr>
            <a:xfrm flipH="1" flipV="1">
              <a:off x="4438636" y="3722142"/>
              <a:ext cx="26897" cy="26898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81" name="Connector 80"/>
            <p:cNvCxnSpPr/>
            <p:nvPr/>
          </p:nvCxnSpPr>
          <p:spPr>
            <a:xfrm flipH="1" flipV="1">
              <a:off x="4465641" y="3675368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82" name="Connector 81"/>
            <p:cNvCxnSpPr/>
            <p:nvPr/>
          </p:nvCxnSpPr>
          <p:spPr>
            <a:xfrm flipV="1">
              <a:off x="4502384" y="3648470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83" name="Connector 82"/>
            <p:cNvCxnSpPr/>
            <p:nvPr/>
          </p:nvCxnSpPr>
          <p:spPr>
            <a:xfrm flipH="1" flipV="1">
              <a:off x="4566239" y="3648470"/>
              <a:ext cx="9845" cy="36743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  <p:cxnSp>
          <p:nvCxnSpPr>
            <p:cNvPr id="84" name="Connector 83"/>
            <p:cNvCxnSpPr/>
            <p:nvPr/>
          </p:nvCxnSpPr>
          <p:spPr>
            <a:xfrm flipV="1">
              <a:off x="4576084" y="3675368"/>
              <a:ext cx="36743" cy="9845"/>
            </a:xfrm>
            <a:prstGeom prst="line">
              <a:avLst/>
            </a:prstGeom>
            <a:ln w="18161" cap="rnd">
              <a:solidFill>
                <a:srgbClr val="868E96"/>
              </a:solidFill>
            </a:ln>
          </p:spPr>
        </p:cxnSp>
      </p:grpSp>
      <p:sp>
        <p:nvSpPr>
          <p:cNvPr id="85" name="text: Frozen"/>
          <p:cNvSpPr txBox="1"/>
          <p:nvPr/>
        </p:nvSpPr>
        <p:spPr>
          <a:xfrm>
            <a:off x="4663440" y="3611880"/>
            <a:ext cx="777240" cy="27432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868E96"/>
                </a:solidFill>
                <a:latin typeface="Inter"/>
                <a:ea typeface="Inter"/>
                <a:cs typeface="Inter"/>
              </a:rPr>
              <a:t>Frozen</a:t>
            </a:r>
          </a:p>
        </p:txBody>
      </p:sp>
      <p:grpSp>
        <p:nvGrpSpPr>
          <p:cNvPr id="86" name="icon: flame (trainable)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7" name="Freeform 86"/>
            <p:cNvSpPr/>
            <p:nvPr/>
          </p:nvSpPr>
          <p:spPr>
            <a:xfrm>
              <a:off x="5854546" y="3630168"/>
              <a:ext cx="146104" cy="237744"/>
            </a:xfrm>
            <a:custGeom>
              <a:avLst/>
              <a:gdLst/>
              <a:ahLst/>
              <a:cxnLst/>
              <a:rect l="l" t="t" r="r" b="b"/>
              <a:pathLst>
                <a:path w="146104" h="237744">
                  <a:moveTo>
                    <a:pt x="73052" y="0"/>
                  </a:moveTo>
                  <a:lnTo>
                    <a:pt x="73864" y="1017"/>
                  </a:lnTo>
                  <a:lnTo>
                    <a:pt x="76265" y="4050"/>
                  </a:lnTo>
                  <a:lnTo>
                    <a:pt x="80152" y="9049"/>
                  </a:lnTo>
                  <a:lnTo>
                    <a:pt x="85359" y="15926"/>
                  </a:lnTo>
                  <a:lnTo>
                    <a:pt x="91661" y="24565"/>
                  </a:lnTo>
                  <a:lnTo>
                    <a:pt x="98785" y="34817"/>
                  </a:lnTo>
                  <a:lnTo>
                    <a:pt x="106421" y="46507"/>
                  </a:lnTo>
                  <a:lnTo>
                    <a:pt x="114230" y="59436"/>
                  </a:lnTo>
                  <a:lnTo>
                    <a:pt x="121864" y="73382"/>
                  </a:lnTo>
                  <a:lnTo>
                    <a:pt x="128971" y="88106"/>
                  </a:lnTo>
                  <a:lnTo>
                    <a:pt x="135218" y="103356"/>
                  </a:lnTo>
                  <a:lnTo>
                    <a:pt x="140296" y="118872"/>
                  </a:lnTo>
                  <a:lnTo>
                    <a:pt x="143938" y="134388"/>
                  </a:lnTo>
                  <a:lnTo>
                    <a:pt x="145927" y="149638"/>
                  </a:lnTo>
                  <a:lnTo>
                    <a:pt x="146104" y="164362"/>
                  </a:lnTo>
                  <a:lnTo>
                    <a:pt x="144375" y="178308"/>
                  </a:lnTo>
                  <a:lnTo>
                    <a:pt x="140717" y="191237"/>
                  </a:lnTo>
                  <a:lnTo>
                    <a:pt x="135178" y="202927"/>
                  </a:lnTo>
                  <a:lnTo>
                    <a:pt x="127871" y="213179"/>
                  </a:lnTo>
                  <a:lnTo>
                    <a:pt x="118981" y="221818"/>
                  </a:lnTo>
                  <a:lnTo>
                    <a:pt x="108745" y="228695"/>
                  </a:lnTo>
                  <a:lnTo>
                    <a:pt x="97455" y="233694"/>
                  </a:lnTo>
                  <a:lnTo>
                    <a:pt x="85438" y="236727"/>
                  </a:lnTo>
                  <a:lnTo>
                    <a:pt x="73052" y="237744"/>
                  </a:lnTo>
                  <a:lnTo>
                    <a:pt x="60666" y="236727"/>
                  </a:lnTo>
                  <a:lnTo>
                    <a:pt x="48649" y="233694"/>
                  </a:lnTo>
                  <a:lnTo>
                    <a:pt x="37359" y="228695"/>
                  </a:lnTo>
                  <a:lnTo>
                    <a:pt x="27123" y="221818"/>
                  </a:lnTo>
                  <a:lnTo>
                    <a:pt x="18233" y="213179"/>
                  </a:lnTo>
                  <a:lnTo>
                    <a:pt x="10926" y="202927"/>
                  </a:lnTo>
                  <a:lnTo>
                    <a:pt x="5387" y="191237"/>
                  </a:lnTo>
                  <a:lnTo>
                    <a:pt x="1729" y="178308"/>
                  </a:lnTo>
                  <a:lnTo>
                    <a:pt x="0" y="164362"/>
                  </a:lnTo>
                  <a:lnTo>
                    <a:pt x="177" y="149638"/>
                  </a:lnTo>
                  <a:lnTo>
                    <a:pt x="2166" y="134388"/>
                  </a:lnTo>
                  <a:lnTo>
                    <a:pt x="5808" y="118872"/>
                  </a:lnTo>
                  <a:lnTo>
                    <a:pt x="10886" y="103356"/>
                  </a:lnTo>
                  <a:lnTo>
                    <a:pt x="17133" y="88106"/>
                  </a:lnTo>
                  <a:lnTo>
                    <a:pt x="24240" y="73382"/>
                  </a:lnTo>
                  <a:lnTo>
                    <a:pt x="31874" y="59436"/>
                  </a:lnTo>
                  <a:lnTo>
                    <a:pt x="39683" y="46507"/>
                  </a:lnTo>
                  <a:lnTo>
                    <a:pt x="47319" y="34817"/>
                  </a:lnTo>
                  <a:lnTo>
                    <a:pt x="54443" y="24565"/>
                  </a:lnTo>
                  <a:lnTo>
                    <a:pt x="60745" y="15926"/>
                  </a:lnTo>
                  <a:lnTo>
                    <a:pt x="65952" y="9049"/>
                  </a:lnTo>
                  <a:lnTo>
                    <a:pt x="69839" y="4050"/>
                  </a:lnTo>
                  <a:lnTo>
                    <a:pt x="72240" y="1017"/>
                  </a:lnTo>
                  <a:lnTo>
                    <a:pt x="73052" y="0"/>
                  </a:lnTo>
                  <a:close/>
                </a:path>
              </a:pathLst>
            </a:custGeom>
            <a:solidFill>
              <a:srgbClr val="FD7E1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5891072" y="3739530"/>
              <a:ext cx="73052" cy="118872"/>
            </a:xfrm>
            <a:custGeom>
              <a:avLst/>
              <a:gdLst/>
              <a:ahLst/>
              <a:cxnLst/>
              <a:rect l="l" t="t" r="r" b="b"/>
              <a:pathLst>
                <a:path w="73052" h="118872">
                  <a:moveTo>
                    <a:pt x="36526" y="0"/>
                  </a:moveTo>
                  <a:lnTo>
                    <a:pt x="36932" y="509"/>
                  </a:lnTo>
                  <a:lnTo>
                    <a:pt x="38132" y="2025"/>
                  </a:lnTo>
                  <a:lnTo>
                    <a:pt x="40076" y="4525"/>
                  </a:lnTo>
                  <a:lnTo>
                    <a:pt x="42679" y="7963"/>
                  </a:lnTo>
                  <a:lnTo>
                    <a:pt x="45830" y="12282"/>
                  </a:lnTo>
                  <a:lnTo>
                    <a:pt x="49393" y="17409"/>
                  </a:lnTo>
                  <a:lnTo>
                    <a:pt x="53210" y="23254"/>
                  </a:lnTo>
                  <a:lnTo>
                    <a:pt x="57115" y="29718"/>
                  </a:lnTo>
                  <a:lnTo>
                    <a:pt x="60932" y="36691"/>
                  </a:lnTo>
                  <a:lnTo>
                    <a:pt x="64486" y="44053"/>
                  </a:lnTo>
                  <a:lnTo>
                    <a:pt x="67609" y="51678"/>
                  </a:lnTo>
                  <a:lnTo>
                    <a:pt x="70148" y="59436"/>
                  </a:lnTo>
                  <a:lnTo>
                    <a:pt x="71969" y="67194"/>
                  </a:lnTo>
                  <a:lnTo>
                    <a:pt x="72964" y="74819"/>
                  </a:lnTo>
                  <a:lnTo>
                    <a:pt x="73052" y="82181"/>
                  </a:lnTo>
                  <a:lnTo>
                    <a:pt x="72188" y="89154"/>
                  </a:lnTo>
                  <a:lnTo>
                    <a:pt x="70359" y="95619"/>
                  </a:lnTo>
                  <a:lnTo>
                    <a:pt x="67589" y="101464"/>
                  </a:lnTo>
                  <a:lnTo>
                    <a:pt x="63936" y="106590"/>
                  </a:lnTo>
                  <a:lnTo>
                    <a:pt x="59490" y="110909"/>
                  </a:lnTo>
                  <a:lnTo>
                    <a:pt x="54373" y="114348"/>
                  </a:lnTo>
                  <a:lnTo>
                    <a:pt x="48727" y="116847"/>
                  </a:lnTo>
                  <a:lnTo>
                    <a:pt x="42719" y="118364"/>
                  </a:lnTo>
                  <a:lnTo>
                    <a:pt x="36526" y="118872"/>
                  </a:lnTo>
                  <a:lnTo>
                    <a:pt x="30333" y="118364"/>
                  </a:lnTo>
                  <a:lnTo>
                    <a:pt x="24325" y="116847"/>
                  </a:lnTo>
                  <a:lnTo>
                    <a:pt x="18679" y="114348"/>
                  </a:lnTo>
                  <a:lnTo>
                    <a:pt x="13562" y="110909"/>
                  </a:lnTo>
                  <a:lnTo>
                    <a:pt x="9116" y="106590"/>
                  </a:lnTo>
                  <a:lnTo>
                    <a:pt x="5463" y="101464"/>
                  </a:lnTo>
                  <a:lnTo>
                    <a:pt x="2693" y="95619"/>
                  </a:lnTo>
                  <a:lnTo>
                    <a:pt x="864" y="89154"/>
                  </a:lnTo>
                  <a:lnTo>
                    <a:pt x="0" y="82181"/>
                  </a:lnTo>
                  <a:lnTo>
                    <a:pt x="88" y="74819"/>
                  </a:lnTo>
                  <a:lnTo>
                    <a:pt x="1083" y="67194"/>
                  </a:lnTo>
                  <a:lnTo>
                    <a:pt x="2904" y="59436"/>
                  </a:lnTo>
                  <a:lnTo>
                    <a:pt x="5443" y="51678"/>
                  </a:lnTo>
                  <a:lnTo>
                    <a:pt x="8566" y="44053"/>
                  </a:lnTo>
                  <a:lnTo>
                    <a:pt x="12120" y="36691"/>
                  </a:lnTo>
                  <a:lnTo>
                    <a:pt x="15937" y="29718"/>
                  </a:lnTo>
                  <a:lnTo>
                    <a:pt x="19842" y="23254"/>
                  </a:lnTo>
                  <a:lnTo>
                    <a:pt x="23659" y="17409"/>
                  </a:lnTo>
                  <a:lnTo>
                    <a:pt x="27222" y="12282"/>
                  </a:lnTo>
                  <a:lnTo>
                    <a:pt x="30373" y="7963"/>
                  </a:lnTo>
                  <a:lnTo>
                    <a:pt x="32976" y="4525"/>
                  </a:lnTo>
                  <a:lnTo>
                    <a:pt x="34920" y="2025"/>
                  </a:lnTo>
                  <a:lnTo>
                    <a:pt x="36120" y="509"/>
                  </a:lnTo>
                  <a:lnTo>
                    <a:pt x="36526" y="0"/>
                  </a:lnTo>
                  <a:close/>
                </a:path>
              </a:pathLst>
            </a:custGeom>
            <a:solidFill>
              <a:srgbClr val="FFC07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9" name="text: Trainable"/>
          <p:cNvSpPr txBox="1"/>
          <p:nvPr/>
        </p:nvSpPr>
        <p:spPr>
          <a:xfrm>
            <a:off x="6035040" y="3611880"/>
            <a:ext cx="914400" cy="274320"/>
          </a:xfrm>
          <a:prstGeom prst="rect">
            <a:avLst/>
          </a:prstGeom>
          <a:noFill/>
        </p:spPr>
        <p:txBody>
          <a:bodyPr wrap="none" anchor="ctr" lIns="109728" rIns="109728" tIns="36576" bIns="36576">
            <a:noAutofit/>
          </a:bodyPr>
          <a:lstStyle/>
          <a:p>
            <a:pPr algn="l"/>
            <a:r>
              <a:rPr b="0" i="0" sz="1200">
                <a:solidFill>
                  <a:srgbClr val="868E96"/>
                </a:solidFill>
                <a:latin typeface="Inter"/>
                <a:ea typeface="Inter"/>
                <a:cs typeface="Inter"/>
              </a:rPr>
              <a:t>Trainable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AME column 5.67x3.90in - demo plot"/>
          <p:cNvSpPr/>
          <p:nvPr/>
        </p:nvSpPr>
        <p:spPr>
          <a:xfrm>
            <a:off x="0" y="0"/>
            <a:ext cx="5181600" cy="35661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: demo_plot.png" descr="demo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81600" cy="3567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